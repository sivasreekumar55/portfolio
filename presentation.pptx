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46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979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25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243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89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60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3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47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012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165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74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6572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667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213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77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69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25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636A-A835-4671-B797-C8FE82FF4EA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D188E-9FD7-4B7D-A0AF-69F2DEDF5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0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8CAA-4499-1E10-E5B7-ACBFC0BA2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8" y="996042"/>
            <a:ext cx="11168743" cy="833778"/>
          </a:xfrm>
        </p:spPr>
        <p:txBody>
          <a:bodyPr>
            <a:normAutofit/>
          </a:bodyPr>
          <a:lstStyle/>
          <a:p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based leave management system</a:t>
            </a:r>
            <a:endParaRPr lang="en-IN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BB527-C1F3-D5EB-86A7-4D6931A1A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929" y="2331698"/>
            <a:ext cx="9144000" cy="3370262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u="sng" dirty="0"/>
              <a:t>What This Project Represents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IN" u="sng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This project demonstrates how Excel can be transformed into a mini HR management system using formulas and structured sheet linking.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This project simulates a real-world HR Leave Tracking System built using Microsoft Excel. Instead of using paid HR software like: SAP SuccessFactors, Zoho People</a:t>
            </a:r>
          </a:p>
        </p:txBody>
      </p:sp>
    </p:spTree>
    <p:extLst>
      <p:ext uri="{BB962C8B-B14F-4D97-AF65-F5344CB8AC3E}">
        <p14:creationId xmlns:p14="http://schemas.microsoft.com/office/powerpoint/2010/main" val="4260303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C9AF-B7F0-B566-9F36-BED7920D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7EDF3-6ED8-0EA4-4017-9F3EF308F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42318"/>
          </a:xfrm>
        </p:spPr>
        <p:txBody>
          <a:bodyPr/>
          <a:lstStyle/>
          <a:p>
            <a:pPr marL="0" indent="0" algn="ctr">
              <a:buNone/>
            </a:pPr>
            <a:r>
              <a:rPr lang="en-IN" u="sng" dirty="0"/>
              <a:t>Real-World Problem</a:t>
            </a:r>
          </a:p>
          <a:p>
            <a:r>
              <a:rPr lang="en-US" dirty="0"/>
              <a:t>Leave data is managed manually</a:t>
            </a:r>
          </a:p>
          <a:p>
            <a:r>
              <a:rPr lang="en-IN" dirty="0"/>
              <a:t>HR calculates balances manually</a:t>
            </a:r>
          </a:p>
          <a:p>
            <a:r>
              <a:rPr lang="en-US" dirty="0"/>
              <a:t>Mistakes happen in leave deduction</a:t>
            </a:r>
          </a:p>
          <a:p>
            <a:r>
              <a:rPr lang="en-IN" dirty="0"/>
              <a:t>No real-time visibility</a:t>
            </a:r>
            <a:endParaRPr lang="en-IN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5671F-FA94-128F-787F-DDC822A6A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34104"/>
          </a:xfrm>
        </p:spPr>
        <p:txBody>
          <a:bodyPr/>
          <a:lstStyle/>
          <a:p>
            <a:pPr marL="0" indent="0" algn="ctr">
              <a:buNone/>
            </a:pPr>
            <a:r>
              <a:rPr lang="en-IN" u="sng" dirty="0"/>
              <a:t>Risk</a:t>
            </a:r>
          </a:p>
          <a:p>
            <a:r>
              <a:rPr lang="en-IN" dirty="0"/>
              <a:t>Overuse of leave</a:t>
            </a:r>
          </a:p>
          <a:p>
            <a:r>
              <a:rPr lang="en-IN" dirty="0"/>
              <a:t>Payroll calculation errors</a:t>
            </a:r>
          </a:p>
          <a:p>
            <a:r>
              <a:rPr lang="en-IN" dirty="0"/>
              <a:t>Conflicts between HR &amp; employees</a:t>
            </a:r>
            <a:endParaRPr lang="en-IN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F38AD-3DAB-EA81-91FB-126841AEB646}"/>
              </a:ext>
            </a:extLst>
          </p:cNvPr>
          <p:cNvSpPr txBox="1"/>
          <p:nvPr/>
        </p:nvSpPr>
        <p:spPr>
          <a:xfrm>
            <a:off x="838200" y="5176157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system solves manual tracking errors by automating leave calculation and balance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346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99D3-A25B-C91D-0CAC-8F86F9A3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843" y="1247635"/>
            <a:ext cx="9873343" cy="707886"/>
          </a:xfrm>
        </p:spPr>
        <p:txBody>
          <a:bodyPr/>
          <a:lstStyle/>
          <a:p>
            <a:pPr algn="ctr"/>
            <a:r>
              <a:rPr lang="en-IN" b="1" u="sng" dirty="0"/>
              <a:t>Project Objective (Detailed)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CE99-7FD3-42F3-9EDB-5069700FD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13" y="2363891"/>
            <a:ext cx="9873343" cy="2892531"/>
          </a:xfrm>
        </p:spPr>
        <p:txBody>
          <a:bodyPr>
            <a:normAutofit/>
          </a:bodyPr>
          <a:lstStyle/>
          <a:p>
            <a:r>
              <a:rPr lang="en-IN" sz="2000" dirty="0"/>
              <a:t>Automate leave tracking</a:t>
            </a:r>
          </a:p>
          <a:p>
            <a:r>
              <a:rPr lang="en-IN" sz="2000" dirty="0"/>
              <a:t>Avoid manual calculation errors</a:t>
            </a:r>
          </a:p>
          <a:p>
            <a:r>
              <a:rPr lang="en-US" sz="2000" dirty="0"/>
              <a:t>Ensure only approved leaves reduce balance</a:t>
            </a:r>
          </a:p>
          <a:p>
            <a:r>
              <a:rPr lang="en-IN" sz="2000" dirty="0"/>
              <a:t>Maintain centralized leave database</a:t>
            </a:r>
          </a:p>
          <a:p>
            <a:r>
              <a:rPr lang="en-US" sz="2000" dirty="0"/>
              <a:t>Provide quick summary for management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0724D-F1C9-B943-A3CA-EE3E9EF9D494}"/>
              </a:ext>
            </a:extLst>
          </p:cNvPr>
          <p:cNvSpPr txBox="1"/>
          <p:nvPr/>
        </p:nvSpPr>
        <p:spPr>
          <a:xfrm>
            <a:off x="408213" y="4548536"/>
            <a:ext cx="9682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The system works dynamically — if leave status changes from "Pending" to "Approved", balance updates automatically.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3277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8D0A-163E-C09D-9F40-6AC358D4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6CB31-8E22-9416-3FC9-C9F6B8F5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99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Employee Master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Leave Application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Leave Balance Calculation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Leave Summary Report</a:t>
            </a:r>
            <a:endParaRPr lang="en-IN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479D440-4296-6A9D-291A-7C8A48E9656F}"/>
              </a:ext>
            </a:extLst>
          </p:cNvPr>
          <p:cNvSpPr/>
          <p:nvPr/>
        </p:nvSpPr>
        <p:spPr>
          <a:xfrm>
            <a:off x="1877782" y="2460114"/>
            <a:ext cx="669471" cy="4245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B9D05A4B-122A-D240-7D2B-B3826F3A5A2B}"/>
              </a:ext>
            </a:extLst>
          </p:cNvPr>
          <p:cNvSpPr/>
          <p:nvPr/>
        </p:nvSpPr>
        <p:spPr>
          <a:xfrm>
            <a:off x="1877782" y="4900158"/>
            <a:ext cx="669471" cy="4245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DFDD877-E641-49AF-8C94-EAE1FCD61CB0}"/>
              </a:ext>
            </a:extLst>
          </p:cNvPr>
          <p:cNvSpPr/>
          <p:nvPr/>
        </p:nvSpPr>
        <p:spPr>
          <a:xfrm>
            <a:off x="1877783" y="3789022"/>
            <a:ext cx="669471" cy="4245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C93C2-DDF6-88ED-20CE-4D9ECD2A7DF6}"/>
              </a:ext>
            </a:extLst>
          </p:cNvPr>
          <p:cNvSpPr txBox="1"/>
          <p:nvPr/>
        </p:nvSpPr>
        <p:spPr>
          <a:xfrm>
            <a:off x="6362700" y="2026055"/>
            <a:ext cx="4991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EXPLANTION</a:t>
            </a:r>
          </a:p>
          <a:p>
            <a:pPr algn="ctr"/>
            <a:endParaRPr lang="en-US" u="sng" dirty="0"/>
          </a:p>
          <a:p>
            <a:r>
              <a:rPr lang="en-US" sz="2000" dirty="0"/>
              <a:t>The system works in a structured flow. Master data is fixed. Transaction data is entered in Leave Application. Then formulas calculate leave usage and summary updates automatically.</a:t>
            </a:r>
            <a:endParaRPr lang="en-US" sz="2000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273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8B64-76FB-FC9E-B7DF-EA4A16B4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34445"/>
            <a:ext cx="10515600" cy="1325563"/>
          </a:xfrm>
        </p:spPr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1EA59-CEDE-CAC8-8E60-64914359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689" y="1924794"/>
            <a:ext cx="4125686" cy="3273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sheet acts as a </a:t>
            </a:r>
            <a:r>
              <a:rPr lang="en-US" b="1" dirty="0"/>
              <a:t>Master Table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It stores:</a:t>
            </a:r>
          </a:p>
          <a:p>
            <a:r>
              <a:rPr lang="en-IN" dirty="0"/>
              <a:t>Employee ID (Primary Key)</a:t>
            </a:r>
          </a:p>
          <a:p>
            <a:r>
              <a:rPr lang="en-IN" dirty="0"/>
              <a:t>Name</a:t>
            </a:r>
          </a:p>
          <a:p>
            <a:r>
              <a:rPr lang="en-IN" dirty="0"/>
              <a:t>Department</a:t>
            </a:r>
          </a:p>
          <a:p>
            <a:r>
              <a:rPr lang="en-IN" dirty="0"/>
              <a:t>Leave 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C7B4E-A45C-DB78-E41B-D8D8060F8D91}"/>
              </a:ext>
            </a:extLst>
          </p:cNvPr>
          <p:cNvSpPr txBox="1"/>
          <p:nvPr/>
        </p:nvSpPr>
        <p:spPr>
          <a:xfrm>
            <a:off x="252002" y="5720612"/>
            <a:ext cx="9816193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Employee ID is used to link all sheets together, ensuring accurate calculation and avoiding duplication errors.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59BEE-3C1A-A7E4-86C0-BE76DD38D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37" y="1560839"/>
            <a:ext cx="7472774" cy="415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28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CF4B-652C-661C-F646-53DBE0D7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71" y="1450586"/>
            <a:ext cx="3932237" cy="448694"/>
          </a:xfrm>
        </p:spPr>
        <p:txBody>
          <a:bodyPr>
            <a:noAutofit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 Application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A37361C-C0BE-E473-77C4-531E6066C5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r="16406"/>
          <a:stretch>
            <a:fillRect/>
          </a:stretch>
        </p:blipFill>
        <p:spPr>
          <a:xfrm>
            <a:off x="5012871" y="396478"/>
            <a:ext cx="6555921" cy="51878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19F4-FA29-242A-F2C7-D34F35F5D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617" y="1902732"/>
            <a:ext cx="4574608" cy="20159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dirty="0"/>
              <a:t>It records</a:t>
            </a:r>
          </a:p>
          <a:p>
            <a:r>
              <a:rPr lang="en-IN" sz="1800" dirty="0"/>
              <a:t>Who applied</a:t>
            </a:r>
          </a:p>
          <a:p>
            <a:r>
              <a:rPr lang="en-IN" sz="1800" dirty="0"/>
              <a:t>What leave type</a:t>
            </a:r>
          </a:p>
          <a:p>
            <a:r>
              <a:rPr lang="en-IN" sz="1800" dirty="0"/>
              <a:t>Start date</a:t>
            </a:r>
          </a:p>
          <a:p>
            <a:r>
              <a:rPr lang="en-IN" sz="1800" dirty="0"/>
              <a:t>End date</a:t>
            </a:r>
          </a:p>
          <a:p>
            <a:r>
              <a:rPr lang="en-IN" sz="1800" dirty="0"/>
              <a:t>Status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362CD-1943-D484-68A0-AC18C17B8D7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572" y="3918632"/>
            <a:ext cx="4378325" cy="21304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u="sng" dirty="0"/>
              <a:t>Important Formulas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Number of Days =</a:t>
            </a:r>
            <a:r>
              <a:rPr lang="en-US" sz="2000" dirty="0"/>
              <a:t>End Date - Start Date + 1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 Only if Status = </a:t>
            </a:r>
            <a:r>
              <a:rPr lang="en-IN" sz="2000" dirty="0">
                <a:highlight>
                  <a:srgbClr val="FFFF00"/>
                </a:highlight>
              </a:rPr>
              <a:t>"Approved“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u="sng" dirty="0"/>
              <a:t>(Leave will be deducted.)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C7F9E-91E9-1335-63EC-23F78B4D53F7}"/>
              </a:ext>
            </a:extLst>
          </p:cNvPr>
          <p:cNvSpPr txBox="1"/>
          <p:nvPr/>
        </p:nvSpPr>
        <p:spPr>
          <a:xfrm>
            <a:off x="702128" y="6276856"/>
            <a:ext cx="929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ensures business validation logic is applied before leave deduction.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247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9550-7556-93ED-C501-6EAE804E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803" y="979232"/>
            <a:ext cx="7161212" cy="558639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 Balance Sheet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DF44B01-BF2E-7AAC-1D1F-E34FB581464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" t="-2829" r="-3116" b="2829"/>
          <a:stretch>
            <a:fillRect/>
          </a:stretch>
        </p:blipFill>
        <p:spPr>
          <a:xfrm>
            <a:off x="2732259" y="2210686"/>
            <a:ext cx="9289424" cy="33887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5043D-8574-AF41-A175-C1008C914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6007" y="2385114"/>
            <a:ext cx="2732259" cy="2734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/>
              <a:t>SUMIFS Function</a:t>
            </a:r>
          </a:p>
          <a:p>
            <a:pPr marL="0" indent="0">
              <a:buNone/>
            </a:pPr>
            <a:r>
              <a:rPr lang="en-IN" sz="2400" dirty="0"/>
              <a:t>It filters:</a:t>
            </a:r>
          </a:p>
          <a:p>
            <a:r>
              <a:rPr lang="en-IN" sz="2400" dirty="0"/>
              <a:t>Employee ID</a:t>
            </a:r>
          </a:p>
          <a:p>
            <a:r>
              <a:rPr lang="en-IN" sz="2400" dirty="0"/>
              <a:t>Leave Type</a:t>
            </a:r>
          </a:p>
          <a:p>
            <a:r>
              <a:rPr lang="en-IN" sz="2400" dirty="0"/>
              <a:t>Status = "Approved"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83F16-57AA-E4E5-418B-69722BC8718A}"/>
              </a:ext>
            </a:extLst>
          </p:cNvPr>
          <p:cNvSpPr txBox="1"/>
          <p:nvPr/>
        </p:nvSpPr>
        <p:spPr>
          <a:xfrm>
            <a:off x="332014" y="5599448"/>
            <a:ext cx="11244944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SUMIFS works like a database query inside Excel. It filters rows based on multiple conditions and returns accurate leave usage. multiple conditions need to be checked simultaneously in </a:t>
            </a:r>
            <a:r>
              <a:rPr lang="en-US" dirty="0" err="1"/>
              <a:t>sumifs</a:t>
            </a:r>
            <a:r>
              <a:rPr lang="en-US" dirty="0"/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28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519D-53ED-F398-DD74-3D648587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0480"/>
            <a:ext cx="10018712" cy="653143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 Summary Sheet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4C42503-B21C-DF8B-8B12-C6349C89D5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1" r="-17"/>
          <a:stretch>
            <a:fillRect/>
          </a:stretch>
        </p:blipFill>
        <p:spPr>
          <a:xfrm>
            <a:off x="139309" y="2726871"/>
            <a:ext cx="10719191" cy="33396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FC06A-965F-3176-EB8E-53BB024D4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83240"/>
            <a:ext cx="9209314" cy="1094014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Employee-wise remaining leaves</a:t>
            </a:r>
          </a:p>
          <a:p>
            <a:r>
              <a:rPr lang="en-IN" sz="2000" dirty="0"/>
              <a:t>Department-wise tracking possible</a:t>
            </a:r>
          </a:p>
          <a:p>
            <a:r>
              <a:rPr lang="en-IN" sz="2000" dirty="0"/>
              <a:t>Total leave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42231-D6A8-DEA4-5651-443193F81D0F}"/>
              </a:ext>
            </a:extLst>
          </p:cNvPr>
          <p:cNvSpPr txBox="1"/>
          <p:nvPr/>
        </p:nvSpPr>
        <p:spPr>
          <a:xfrm>
            <a:off x="839788" y="6216134"/>
            <a:ext cx="920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sheet converts raw data into management-level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324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328B-4A59-31F9-A66A-94EDEF5A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Features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C2B8-7CB2-E751-F3B2-D287EA3F6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19904"/>
          </a:xfrm>
        </p:spPr>
        <p:txBody>
          <a:bodyPr/>
          <a:lstStyle/>
          <a:p>
            <a:r>
              <a:rPr lang="en-IN" dirty="0"/>
              <a:t>SUMIFS (conditional aggregation)</a:t>
            </a:r>
          </a:p>
          <a:p>
            <a:r>
              <a:rPr lang="en-IN" dirty="0" err="1"/>
              <a:t>Sumproduct</a:t>
            </a:r>
            <a:r>
              <a:rPr lang="en-IN" dirty="0"/>
              <a:t>, If’s, VLOOKUP</a:t>
            </a:r>
          </a:p>
          <a:p>
            <a:r>
              <a:rPr lang="en-IN" dirty="0"/>
              <a:t>Date arithmetic</a:t>
            </a:r>
          </a:p>
          <a:p>
            <a:r>
              <a:rPr lang="en-IN" dirty="0"/>
              <a:t>Data validation dropdown</a:t>
            </a:r>
          </a:p>
          <a:p>
            <a:r>
              <a:rPr lang="en-IN" dirty="0"/>
              <a:t>Cross-sheet linking</a:t>
            </a:r>
          </a:p>
          <a:p>
            <a:r>
              <a:rPr lang="en-IN" dirty="0"/>
              <a:t>Logical condition 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633B1-3FBC-666B-A95F-3B6F198586E7}"/>
              </a:ext>
            </a:extLst>
          </p:cNvPr>
          <p:cNvSpPr txBox="1"/>
          <p:nvPr/>
        </p:nvSpPr>
        <p:spPr>
          <a:xfrm>
            <a:off x="1159329" y="5404757"/>
            <a:ext cx="9552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project integrates database logic, conditional computation, and reporting within Excel without using macros.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31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F8F1-BF3A-8230-0D70-7D56DB50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443" y="901532"/>
            <a:ext cx="8610600" cy="1293028"/>
          </a:xfrm>
        </p:spPr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4F10A-8409-D5D9-1DDD-197E2DB10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developed an automated Employee Leave Management System using Excel</a:t>
            </a:r>
          </a:p>
          <a:p>
            <a:r>
              <a:rPr lang="en-US" dirty="0"/>
              <a:t>Implemented real-time leave tracking using formulas</a:t>
            </a:r>
          </a:p>
          <a:p>
            <a:r>
              <a:rPr lang="en-US" dirty="0"/>
              <a:t>Applied conditional logic (SUMIFS) for accurate leave deduction</a:t>
            </a:r>
          </a:p>
          <a:p>
            <a:r>
              <a:rPr lang="en-US" dirty="0"/>
              <a:t>Created a structured system with Master, Transaction, and Report layers</a:t>
            </a:r>
          </a:p>
          <a:p>
            <a:r>
              <a:rPr lang="en-US" dirty="0"/>
              <a:t>Reduced manual errors and improved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796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44</TotalTime>
  <Words>450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</vt:lpstr>
      <vt:lpstr>Vapor Trail</vt:lpstr>
      <vt:lpstr>Excel based leave management system</vt:lpstr>
      <vt:lpstr>Business Problem</vt:lpstr>
      <vt:lpstr>Project Objective (Detailed)</vt:lpstr>
      <vt:lpstr>System Architecture</vt:lpstr>
      <vt:lpstr>Employee Master</vt:lpstr>
      <vt:lpstr>Leave Application</vt:lpstr>
      <vt:lpstr>Leave Balance Sheet </vt:lpstr>
      <vt:lpstr>Leave Summary Sheet</vt:lpstr>
      <vt:lpstr>Excel Features Used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user4</dc:creator>
  <cp:lastModifiedBy>user4</cp:lastModifiedBy>
  <cp:revision>2</cp:revision>
  <dcterms:created xsi:type="dcterms:W3CDTF">2026-03-03T08:55:05Z</dcterms:created>
  <dcterms:modified xsi:type="dcterms:W3CDTF">2026-03-03T09:40:05Z</dcterms:modified>
</cp:coreProperties>
</file>